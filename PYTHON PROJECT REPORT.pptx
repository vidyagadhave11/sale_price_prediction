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7569200" cy="10693400"/>
  <p:notesSz cx="75692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2328" y="4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4954"/>
            <a:ext cx="6433820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88304"/>
            <a:ext cx="529844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460" y="2459482"/>
            <a:ext cx="329260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8138" y="2459482"/>
            <a:ext cx="329260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460" y="427736"/>
            <a:ext cx="6812280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460" y="2459482"/>
            <a:ext cx="681228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3528" y="9944862"/>
            <a:ext cx="242214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460" y="9944862"/>
            <a:ext cx="1740916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9824" y="9944862"/>
            <a:ext cx="1740916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2296" y="273077"/>
            <a:ext cx="5584190" cy="95758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R="151130" algn="ctr">
              <a:lnSpc>
                <a:spcPct val="100000"/>
              </a:lnSpc>
              <a:spcBef>
                <a:spcPts val="555"/>
              </a:spcBef>
            </a:pPr>
            <a:r>
              <a:rPr sz="1600" b="1" dirty="0">
                <a:latin typeface="Times New Roman"/>
                <a:cs typeface="Times New Roman"/>
              </a:rPr>
              <a:t>Dr.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D.Y.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Patil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Unitech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Society's</a:t>
            </a:r>
            <a:endParaRPr sz="1600">
              <a:latin typeface="Times New Roman"/>
              <a:cs typeface="Times New Roman"/>
            </a:endParaRPr>
          </a:p>
          <a:p>
            <a:pPr marL="12700" marR="5080" algn="ctr">
              <a:lnSpc>
                <a:spcPct val="105600"/>
              </a:lnSpc>
              <a:spcBef>
                <a:spcPts val="400"/>
              </a:spcBef>
            </a:pPr>
            <a:r>
              <a:rPr sz="1800" b="1" dirty="0">
                <a:latin typeface="Times New Roman"/>
                <a:cs typeface="Times New Roman"/>
              </a:rPr>
              <a:t>Dr.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D.Y.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Patil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Arts,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Commerce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&amp;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Science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College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Pimpri Pune411018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1440" y="3287395"/>
            <a:ext cx="5151755" cy="129222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64795" algn="ctr">
              <a:lnSpc>
                <a:spcPct val="100000"/>
              </a:lnSpc>
              <a:spcBef>
                <a:spcPts val="484"/>
              </a:spcBef>
            </a:pPr>
            <a:r>
              <a:rPr sz="1800" b="1" dirty="0">
                <a:latin typeface="Times New Roman"/>
                <a:cs typeface="Times New Roman"/>
              </a:rPr>
              <a:t>A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PROJECT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REPORT</a:t>
            </a:r>
            <a:r>
              <a:rPr sz="1800" b="1" spc="44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ON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800" b="1" i="1" dirty="0">
                <a:latin typeface="Calibri"/>
                <a:cs typeface="Calibri"/>
              </a:rPr>
              <a:t>Report</a:t>
            </a:r>
            <a:r>
              <a:rPr sz="1800" b="1" i="1" spc="-4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on</a:t>
            </a:r>
            <a:r>
              <a:rPr sz="1800" b="1" i="1" spc="-4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Car</a:t>
            </a:r>
            <a:r>
              <a:rPr sz="1800" b="1" i="1" spc="-4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Price</a:t>
            </a:r>
            <a:r>
              <a:rPr sz="1800" b="1" i="1" spc="-4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Prediction</a:t>
            </a:r>
            <a:r>
              <a:rPr sz="1800" b="1" i="1" spc="-4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UsingMachine</a:t>
            </a:r>
            <a:r>
              <a:rPr sz="1800" b="1" i="1" spc="-40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Learning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1800">
              <a:latin typeface="Calibri"/>
              <a:cs typeface="Calibri"/>
            </a:endParaRPr>
          </a:p>
          <a:p>
            <a:pPr marL="260985" algn="ctr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Segoe UI"/>
                <a:cs typeface="Segoe UI"/>
              </a:rPr>
              <a:t>Developed</a:t>
            </a:r>
            <a:r>
              <a:rPr sz="1800" b="1" spc="-70" dirty="0">
                <a:latin typeface="Segoe UI"/>
                <a:cs typeface="Segoe UI"/>
              </a:rPr>
              <a:t> </a:t>
            </a:r>
            <a:r>
              <a:rPr sz="1800" b="1" spc="-25" dirty="0">
                <a:latin typeface="Segoe UI"/>
                <a:cs typeface="Segoe UI"/>
              </a:rPr>
              <a:t>by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2803" y="4882768"/>
            <a:ext cx="5828030" cy="611505"/>
          </a:xfrm>
          <a:prstGeom prst="rect">
            <a:avLst/>
          </a:prstGeom>
          <a:ln w="228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9209">
              <a:lnSpc>
                <a:spcPts val="2095"/>
              </a:lnSpc>
            </a:pPr>
            <a:r>
              <a:rPr sz="1800" dirty="0">
                <a:latin typeface="Times New Roman"/>
                <a:cs typeface="Times New Roman"/>
              </a:rPr>
              <a:t>Vidya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Gadhave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(12)</a:t>
            </a:r>
            <a:endParaRPr sz="1800">
              <a:latin typeface="Times New Roman"/>
              <a:cs typeface="Times New Roman"/>
            </a:endParaRPr>
          </a:p>
          <a:p>
            <a:pPr marL="29209">
              <a:lnSpc>
                <a:spcPct val="100000"/>
              </a:lnSpc>
              <a:spcBef>
                <a:spcPts val="240"/>
              </a:spcBef>
            </a:pPr>
            <a:r>
              <a:rPr sz="1800" dirty="0">
                <a:latin typeface="Times New Roman"/>
                <a:cs typeface="Times New Roman"/>
              </a:rPr>
              <a:t>Vaishnavi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Deshmukh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(07)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87042" y="5783960"/>
            <a:ext cx="3360420" cy="18776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0325" algn="ctr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M.sc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(Data</a:t>
            </a:r>
            <a:r>
              <a:rPr sz="2000" spc="-10" dirty="0">
                <a:latin typeface="Times New Roman"/>
                <a:cs typeface="Times New Roman"/>
              </a:rPr>
              <a:t> Science)</a:t>
            </a:r>
            <a:endParaRPr sz="20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  <a:spcBef>
                <a:spcPts val="2195"/>
              </a:spcBef>
            </a:pPr>
            <a:r>
              <a:rPr sz="2000" spc="-10" dirty="0">
                <a:latin typeface="Times New Roman"/>
                <a:cs typeface="Times New Roman"/>
              </a:rPr>
              <a:t>Under</a:t>
            </a:r>
            <a:endParaRPr sz="2000">
              <a:latin typeface="Times New Roman"/>
              <a:cs typeface="Times New Roman"/>
            </a:endParaRPr>
          </a:p>
          <a:p>
            <a:pPr marL="12700" marR="5080" algn="ctr">
              <a:lnSpc>
                <a:spcPct val="158000"/>
              </a:lnSpc>
            </a:pPr>
            <a:r>
              <a:rPr sz="2000" dirty="0">
                <a:latin typeface="Times New Roman"/>
                <a:cs typeface="Times New Roman"/>
              </a:rPr>
              <a:t>Savitribai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Phule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Pune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University 2024-</a:t>
            </a:r>
            <a:r>
              <a:rPr sz="2000" spc="-20" dirty="0">
                <a:latin typeface="Times New Roman"/>
                <a:cs typeface="Times New Roman"/>
              </a:rPr>
              <a:t>2025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5551" y="1586864"/>
            <a:ext cx="3230043" cy="10561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1056" y="2711558"/>
            <a:ext cx="5709285" cy="60198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2152650">
              <a:lnSpc>
                <a:spcPct val="100000"/>
              </a:lnSpc>
              <a:spcBef>
                <a:spcPts val="540"/>
              </a:spcBef>
            </a:pPr>
            <a:r>
              <a:rPr sz="1400" b="1" dirty="0">
                <a:latin typeface="Times New Roman"/>
                <a:cs typeface="Times New Roman"/>
              </a:rPr>
              <a:t>Dr.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D.Y.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Patil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Unitech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Society's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600" b="1" dirty="0">
                <a:latin typeface="Times New Roman"/>
                <a:cs typeface="Times New Roman"/>
              </a:rPr>
              <a:t>Dr.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D.Y.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Patil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Arts,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Commerce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&amp;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Science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College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Pimpri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Pune.18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07840" y="4996306"/>
            <a:ext cx="52069" cy="15240"/>
          </a:xfrm>
          <a:custGeom>
            <a:avLst/>
            <a:gdLst/>
            <a:ahLst/>
            <a:cxnLst/>
            <a:rect l="l" t="t" r="r" b="b"/>
            <a:pathLst>
              <a:path w="52070" h="15239">
                <a:moveTo>
                  <a:pt x="51815" y="0"/>
                </a:moveTo>
                <a:lnTo>
                  <a:pt x="0" y="0"/>
                </a:lnTo>
                <a:lnTo>
                  <a:pt x="0" y="15239"/>
                </a:lnTo>
                <a:lnTo>
                  <a:pt x="51815" y="15239"/>
                </a:lnTo>
                <a:lnTo>
                  <a:pt x="518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7152" y="4006222"/>
            <a:ext cx="6748145" cy="222567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R="397510" algn="ctr">
              <a:lnSpc>
                <a:spcPct val="100000"/>
              </a:lnSpc>
              <a:spcBef>
                <a:spcPts val="420"/>
              </a:spcBef>
            </a:pPr>
            <a:r>
              <a:rPr sz="2200" spc="-10" dirty="0">
                <a:latin typeface="Times New Roman"/>
                <a:cs typeface="Times New Roman"/>
              </a:rPr>
              <a:t>CERTIFICATE</a:t>
            </a:r>
            <a:endParaRPr sz="2200">
              <a:latin typeface="Times New Roman"/>
              <a:cs typeface="Times New Roman"/>
            </a:endParaRPr>
          </a:p>
          <a:p>
            <a:pPr marL="15240" marR="528320">
              <a:lnSpc>
                <a:spcPts val="2460"/>
              </a:lnSpc>
              <a:spcBef>
                <a:spcPts val="100"/>
              </a:spcBef>
              <a:tabLst>
                <a:tab pos="4606290" algn="l"/>
              </a:tabLst>
            </a:pPr>
            <a:r>
              <a:rPr sz="1800" dirty="0">
                <a:latin typeface="Times New Roman"/>
                <a:cs typeface="Times New Roman"/>
              </a:rPr>
              <a:t>This is to certify that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00" u="none" dirty="0">
                <a:latin typeface="Times New Roman"/>
                <a:cs typeface="Times New Roman"/>
              </a:rPr>
              <a:t>have</a:t>
            </a:r>
            <a:r>
              <a:rPr sz="1800" u="none" spc="-20" dirty="0">
                <a:latin typeface="Times New Roman"/>
                <a:cs typeface="Times New Roman"/>
              </a:rPr>
              <a:t> </a:t>
            </a:r>
            <a:r>
              <a:rPr sz="1800" u="none" spc="-10" dirty="0">
                <a:latin typeface="Times New Roman"/>
                <a:cs typeface="Times New Roman"/>
              </a:rPr>
              <a:t>successfully </a:t>
            </a:r>
            <a:r>
              <a:rPr sz="1800" u="none" dirty="0">
                <a:latin typeface="Times New Roman"/>
                <a:cs typeface="Times New Roman"/>
              </a:rPr>
              <a:t>completed</a:t>
            </a:r>
            <a:r>
              <a:rPr sz="1800" u="none" spc="-45" dirty="0">
                <a:latin typeface="Times New Roman"/>
                <a:cs typeface="Times New Roman"/>
              </a:rPr>
              <a:t> </a:t>
            </a:r>
            <a:r>
              <a:rPr sz="1800" u="none" dirty="0">
                <a:latin typeface="Times New Roman"/>
                <a:cs typeface="Times New Roman"/>
              </a:rPr>
              <a:t>the</a:t>
            </a:r>
            <a:r>
              <a:rPr sz="1800" u="none" spc="-40" dirty="0">
                <a:latin typeface="Times New Roman"/>
                <a:cs typeface="Times New Roman"/>
              </a:rPr>
              <a:t> </a:t>
            </a:r>
            <a:r>
              <a:rPr sz="1800" u="none" dirty="0">
                <a:latin typeface="Times New Roman"/>
                <a:cs typeface="Times New Roman"/>
              </a:rPr>
              <a:t>Project</a:t>
            </a:r>
            <a:r>
              <a:rPr sz="1800" u="none" spc="-35" dirty="0">
                <a:latin typeface="Times New Roman"/>
                <a:cs typeface="Times New Roman"/>
              </a:rPr>
              <a:t> </a:t>
            </a:r>
            <a:r>
              <a:rPr sz="1800" u="none" dirty="0">
                <a:latin typeface="Times New Roman"/>
                <a:cs typeface="Times New Roman"/>
              </a:rPr>
              <a:t>Work</a:t>
            </a:r>
            <a:r>
              <a:rPr sz="1800" u="none" spc="-35" dirty="0">
                <a:latin typeface="Times New Roman"/>
                <a:cs typeface="Times New Roman"/>
              </a:rPr>
              <a:t> </a:t>
            </a:r>
            <a:r>
              <a:rPr sz="1800" u="none" dirty="0">
                <a:latin typeface="Times New Roman"/>
                <a:cs typeface="Times New Roman"/>
              </a:rPr>
              <a:t>entitled</a:t>
            </a:r>
            <a:r>
              <a:rPr sz="1800" u="none" spc="-30" dirty="0">
                <a:latin typeface="Times New Roman"/>
                <a:cs typeface="Times New Roman"/>
              </a:rPr>
              <a:t> </a:t>
            </a:r>
            <a:r>
              <a:rPr sz="1800" u="none" dirty="0">
                <a:latin typeface="Times New Roman"/>
                <a:cs typeface="Times New Roman"/>
              </a:rPr>
              <a:t>"</a:t>
            </a:r>
            <a:r>
              <a:rPr sz="1800" u="none" spc="-55" dirty="0">
                <a:latin typeface="Times New Roman"/>
                <a:cs typeface="Times New Roman"/>
              </a:rPr>
              <a:t> </a:t>
            </a:r>
            <a:r>
              <a:rPr sz="1600" b="1" u="none" dirty="0">
                <a:latin typeface="Calibri"/>
                <a:cs typeface="Calibri"/>
              </a:rPr>
              <a:t>Report</a:t>
            </a:r>
            <a:r>
              <a:rPr sz="1600" b="1" u="none" spc="-35" dirty="0">
                <a:latin typeface="Calibri"/>
                <a:cs typeface="Calibri"/>
              </a:rPr>
              <a:t> </a:t>
            </a:r>
            <a:r>
              <a:rPr sz="1600" b="1" u="none" dirty="0">
                <a:latin typeface="Calibri"/>
                <a:cs typeface="Calibri"/>
              </a:rPr>
              <a:t>on</a:t>
            </a:r>
            <a:r>
              <a:rPr sz="1600" b="1" u="none" spc="-30" dirty="0">
                <a:latin typeface="Calibri"/>
                <a:cs typeface="Calibri"/>
              </a:rPr>
              <a:t> </a:t>
            </a:r>
            <a:r>
              <a:rPr sz="1600" b="1" u="none" dirty="0">
                <a:latin typeface="Calibri"/>
                <a:cs typeface="Calibri"/>
              </a:rPr>
              <a:t>Car</a:t>
            </a:r>
            <a:r>
              <a:rPr sz="1600" b="1" u="none" spc="-35" dirty="0">
                <a:latin typeface="Calibri"/>
                <a:cs typeface="Calibri"/>
              </a:rPr>
              <a:t> </a:t>
            </a:r>
            <a:r>
              <a:rPr sz="1600" b="1" u="none" dirty="0">
                <a:latin typeface="Calibri"/>
                <a:cs typeface="Calibri"/>
              </a:rPr>
              <a:t>Price</a:t>
            </a:r>
            <a:r>
              <a:rPr sz="1600" b="1" u="none" spc="-35" dirty="0">
                <a:latin typeface="Calibri"/>
                <a:cs typeface="Calibri"/>
              </a:rPr>
              <a:t> </a:t>
            </a:r>
            <a:r>
              <a:rPr sz="1600" b="1" u="none" spc="-10" dirty="0">
                <a:latin typeface="Calibri"/>
                <a:cs typeface="Calibri"/>
              </a:rPr>
              <a:t>Prediction</a:t>
            </a:r>
            <a:endParaRPr sz="1600">
              <a:latin typeface="Calibri"/>
              <a:cs typeface="Calibri"/>
            </a:endParaRPr>
          </a:p>
          <a:p>
            <a:pPr marL="18415" marR="5080" indent="-6350">
              <a:lnSpc>
                <a:spcPct val="137300"/>
              </a:lnSpc>
              <a:spcBef>
                <a:spcPts val="155"/>
              </a:spcBef>
            </a:pPr>
            <a:r>
              <a:rPr sz="1600" b="1" dirty="0">
                <a:latin typeface="Calibri"/>
                <a:cs typeface="Calibri"/>
              </a:rPr>
              <a:t>Using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Machine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Learning</a:t>
            </a:r>
            <a:r>
              <a:rPr sz="1600" b="1" spc="70" dirty="0">
                <a:latin typeface="Calibri"/>
                <a:cs typeface="Calibri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"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M.Sc.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(Data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Science)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Sem-</a:t>
            </a:r>
            <a:r>
              <a:rPr sz="1600" b="1" dirty="0">
                <a:latin typeface="Times New Roman"/>
                <a:cs typeface="Times New Roman"/>
              </a:rPr>
              <a:t>I</a:t>
            </a:r>
            <a:r>
              <a:rPr sz="1600" b="1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Savitribai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Phule </a:t>
            </a:r>
            <a:r>
              <a:rPr sz="1800" dirty="0">
                <a:latin typeface="Times New Roman"/>
                <a:cs typeface="Times New Roman"/>
              </a:rPr>
              <a:t>Pune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University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Academic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800" dirty="0">
                <a:latin typeface="Times New Roman"/>
                <a:cs typeface="Times New Roman"/>
              </a:rPr>
              <a:t>Year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2024-</a:t>
            </a:r>
            <a:r>
              <a:rPr sz="1800" spc="-25" dirty="0">
                <a:latin typeface="Times New Roman"/>
                <a:cs typeface="Times New Roman"/>
              </a:rPr>
              <a:t>25.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1056" y="6958964"/>
            <a:ext cx="1390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Project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Guide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12718" y="6958964"/>
            <a:ext cx="7188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imes New Roman"/>
                <a:cs typeface="Times New Roman"/>
              </a:rPr>
              <a:t>H.O.D.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15280" y="6958964"/>
            <a:ext cx="929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imes New Roman"/>
                <a:cs typeface="Times New Roman"/>
              </a:rPr>
              <a:t>Principal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1056" y="7946897"/>
            <a:ext cx="17564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/>
                <a:cs typeface="Times New Roman"/>
              </a:rPr>
              <a:t>External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Examiner: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00880" y="7946897"/>
            <a:ext cx="17125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/>
                <a:cs typeface="Times New Roman"/>
              </a:rPr>
              <a:t>Internal</a:t>
            </a:r>
            <a:r>
              <a:rPr sz="1600" b="1" spc="-7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Examiner: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5806" y="954404"/>
            <a:ext cx="2903368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1056" y="667003"/>
            <a:ext cx="17564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/>
                <a:cs typeface="Times New Roman"/>
              </a:rPr>
              <a:t>External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Examiner: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00880" y="667003"/>
            <a:ext cx="17125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/>
                <a:cs typeface="Times New Roman"/>
              </a:rPr>
              <a:t>Internal</a:t>
            </a:r>
            <a:r>
              <a:rPr sz="1600" b="1" spc="-7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Examiner: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8800" y="2017385"/>
            <a:ext cx="6317615" cy="2028189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823845" indent="-267335">
              <a:lnSpc>
                <a:spcPct val="100000"/>
              </a:lnSpc>
              <a:spcBef>
                <a:spcPts val="530"/>
              </a:spcBef>
              <a:buFont typeface="Wingdings"/>
              <a:buChar char=""/>
              <a:tabLst>
                <a:tab pos="2823845" algn="l"/>
              </a:tabLst>
            </a:pPr>
            <a:r>
              <a:rPr sz="1800" b="1" spc="-10" dirty="0">
                <a:latin typeface="Times New Roman"/>
                <a:cs typeface="Times New Roman"/>
              </a:rPr>
              <a:t>Introduction</a:t>
            </a:r>
            <a:endParaRPr sz="1800">
              <a:latin typeface="Times New Roman"/>
              <a:cs typeface="Times New Roman"/>
            </a:endParaRPr>
          </a:p>
          <a:p>
            <a:pPr marL="247650" marR="5080" indent="-235585">
              <a:lnSpc>
                <a:spcPct val="113300"/>
              </a:lnSpc>
              <a:spcBef>
                <a:spcPts val="125"/>
              </a:spcBef>
              <a:buFont typeface="Wingdings"/>
              <a:buChar char=""/>
              <a:tabLst>
                <a:tab pos="247650" algn="l"/>
                <a:tab pos="249554" algn="l"/>
              </a:tabLst>
            </a:pPr>
            <a:r>
              <a:rPr sz="1600" dirty="0">
                <a:latin typeface="Calibri"/>
                <a:cs typeface="Calibri"/>
              </a:rPr>
              <a:t>	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objective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project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predict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prices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various </a:t>
            </a:r>
            <a:r>
              <a:rPr sz="1600" dirty="0">
                <a:latin typeface="Calibri"/>
                <a:cs typeface="Calibri"/>
              </a:rPr>
              <a:t>features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such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brand,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body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type,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mileage,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engine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volume,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engine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type, </a:t>
            </a:r>
            <a:r>
              <a:rPr sz="1600" dirty="0">
                <a:latin typeface="Calibri"/>
                <a:cs typeface="Calibri"/>
              </a:rPr>
              <a:t>registration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status,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year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manufacture,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model.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dataset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for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analysis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contains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4,345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entries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9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features,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which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were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processed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analyzed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Python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libraries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such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Pandas,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NumPy,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Matplotlib, </a:t>
            </a:r>
            <a:r>
              <a:rPr sz="1600" dirty="0">
                <a:latin typeface="Calibri"/>
                <a:cs typeface="Calibri"/>
              </a:rPr>
              <a:t>Seaborn,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Scikit-</a:t>
            </a:r>
            <a:r>
              <a:rPr sz="1600" spc="-10" dirty="0">
                <a:latin typeface="Calibri"/>
                <a:cs typeface="Calibri"/>
              </a:rPr>
              <a:t>learn.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8800" y="5143203"/>
            <a:ext cx="5948680" cy="363664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713990" indent="-267335">
              <a:lnSpc>
                <a:spcPct val="100000"/>
              </a:lnSpc>
              <a:spcBef>
                <a:spcPts val="535"/>
              </a:spcBef>
              <a:buFont typeface="Wingdings"/>
              <a:buChar char=""/>
              <a:tabLst>
                <a:tab pos="2713990" algn="l"/>
              </a:tabLst>
            </a:pPr>
            <a:r>
              <a:rPr sz="1800" b="1" dirty="0">
                <a:latin typeface="Times New Roman"/>
                <a:cs typeface="Times New Roman"/>
              </a:rPr>
              <a:t>Data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Overview</a:t>
            </a:r>
            <a:endParaRPr sz="1800">
              <a:latin typeface="Times New Roman"/>
              <a:cs typeface="Times New Roman"/>
            </a:endParaRPr>
          </a:p>
          <a:p>
            <a:pPr marL="241300" marR="5080" indent="-229235">
              <a:lnSpc>
                <a:spcPct val="113100"/>
              </a:lnSpc>
              <a:spcBef>
                <a:spcPts val="130"/>
              </a:spcBef>
              <a:buFont typeface="Wingdings"/>
              <a:buChar char=""/>
              <a:tabLst>
                <a:tab pos="241300" algn="l"/>
              </a:tabLst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dataset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loaded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CSV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file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first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few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entries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were </a:t>
            </a:r>
            <a:r>
              <a:rPr sz="1600" dirty="0">
                <a:latin typeface="Calibri"/>
                <a:cs typeface="Calibri"/>
              </a:rPr>
              <a:t>examined.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features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included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dataset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are: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55"/>
              </a:spcBef>
              <a:buFont typeface="Wingdings"/>
              <a:buChar char=""/>
              <a:tabLst>
                <a:tab pos="241300" algn="l"/>
              </a:tabLst>
            </a:pPr>
            <a:r>
              <a:rPr sz="1600" b="1" dirty="0">
                <a:latin typeface="Calibri"/>
                <a:cs typeface="Calibri"/>
              </a:rPr>
              <a:t>Brand</a:t>
            </a:r>
            <a:r>
              <a:rPr sz="1600" dirty="0">
                <a:latin typeface="Calibri"/>
                <a:cs typeface="Calibri"/>
              </a:rPr>
              <a:t>: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manufacturer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car.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55"/>
              </a:spcBef>
              <a:buFont typeface="Wingdings"/>
              <a:buChar char=""/>
              <a:tabLst>
                <a:tab pos="241300" algn="l"/>
              </a:tabLst>
            </a:pPr>
            <a:r>
              <a:rPr sz="1600" b="1" dirty="0">
                <a:latin typeface="Calibri"/>
                <a:cs typeface="Calibri"/>
              </a:rPr>
              <a:t>Price</a:t>
            </a:r>
            <a:r>
              <a:rPr sz="1600" dirty="0">
                <a:latin typeface="Calibri"/>
                <a:cs typeface="Calibri"/>
              </a:rPr>
              <a:t>: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price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(target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variable).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45"/>
              </a:spcBef>
              <a:buFont typeface="Wingdings"/>
              <a:buChar char=""/>
              <a:tabLst>
                <a:tab pos="241300" algn="l"/>
              </a:tabLst>
            </a:pPr>
            <a:r>
              <a:rPr sz="1600" b="1" dirty="0">
                <a:latin typeface="Calibri"/>
                <a:cs typeface="Calibri"/>
              </a:rPr>
              <a:t>Body</a:t>
            </a:r>
            <a:r>
              <a:rPr sz="1600" dirty="0">
                <a:latin typeface="Calibri"/>
                <a:cs typeface="Calibri"/>
              </a:rPr>
              <a:t>: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type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body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(e.g.,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sedan,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crossover).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55"/>
              </a:spcBef>
              <a:buFont typeface="Wingdings"/>
              <a:buChar char=""/>
              <a:tabLst>
                <a:tab pos="241300" algn="l"/>
              </a:tabLst>
            </a:pPr>
            <a:r>
              <a:rPr sz="1600" b="1" dirty="0">
                <a:latin typeface="Calibri"/>
                <a:cs typeface="Calibri"/>
              </a:rPr>
              <a:t>Mileage</a:t>
            </a:r>
            <a:r>
              <a:rPr sz="1600" dirty="0">
                <a:latin typeface="Calibri"/>
                <a:cs typeface="Calibri"/>
              </a:rPr>
              <a:t>: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distance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traveled.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55"/>
              </a:spcBef>
              <a:buFont typeface="Wingdings"/>
              <a:buChar char=""/>
              <a:tabLst>
                <a:tab pos="241300" algn="l"/>
              </a:tabLst>
            </a:pPr>
            <a:r>
              <a:rPr sz="1600" b="1" dirty="0">
                <a:latin typeface="Calibri"/>
                <a:cs typeface="Calibri"/>
              </a:rPr>
              <a:t>EngineV</a:t>
            </a:r>
            <a:r>
              <a:rPr sz="1600" dirty="0">
                <a:latin typeface="Calibri"/>
                <a:cs typeface="Calibri"/>
              </a:rPr>
              <a:t>: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engine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volume.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45"/>
              </a:spcBef>
              <a:buFont typeface="Wingdings"/>
              <a:buChar char=""/>
              <a:tabLst>
                <a:tab pos="241300" algn="l"/>
              </a:tabLst>
            </a:pPr>
            <a:r>
              <a:rPr sz="1600" b="1" dirty="0">
                <a:latin typeface="Calibri"/>
                <a:cs typeface="Calibri"/>
              </a:rPr>
              <a:t>Engine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Type</a:t>
            </a:r>
            <a:r>
              <a:rPr sz="1600" dirty="0">
                <a:latin typeface="Calibri"/>
                <a:cs typeface="Calibri"/>
              </a:rPr>
              <a:t>: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type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fuel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(e.g.,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petrol,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diesel).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59"/>
              </a:spcBef>
              <a:buFont typeface="Wingdings"/>
              <a:buChar char=""/>
              <a:tabLst>
                <a:tab pos="241300" algn="l"/>
              </a:tabLst>
            </a:pPr>
            <a:r>
              <a:rPr sz="1600" b="1" dirty="0">
                <a:latin typeface="Calibri"/>
                <a:cs typeface="Calibri"/>
              </a:rPr>
              <a:t>Registration</a:t>
            </a:r>
            <a:r>
              <a:rPr sz="1600" dirty="0">
                <a:latin typeface="Calibri"/>
                <a:cs typeface="Calibri"/>
              </a:rPr>
              <a:t>: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Whether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registered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not.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55"/>
              </a:spcBef>
              <a:buFont typeface="Wingdings"/>
              <a:buChar char=""/>
              <a:tabLst>
                <a:tab pos="241300" algn="l"/>
              </a:tabLst>
            </a:pPr>
            <a:r>
              <a:rPr sz="1600" b="1" dirty="0">
                <a:latin typeface="Calibri"/>
                <a:cs typeface="Calibri"/>
              </a:rPr>
              <a:t>Year</a:t>
            </a:r>
            <a:r>
              <a:rPr sz="1600" dirty="0">
                <a:latin typeface="Calibri"/>
                <a:cs typeface="Calibri"/>
              </a:rPr>
              <a:t>: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year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manufacture.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55"/>
              </a:spcBef>
              <a:buFont typeface="Wingdings"/>
              <a:buChar char=""/>
              <a:tabLst>
                <a:tab pos="241300" algn="l"/>
              </a:tabLst>
            </a:pPr>
            <a:r>
              <a:rPr sz="1600" b="1" dirty="0">
                <a:latin typeface="Calibri"/>
                <a:cs typeface="Calibri"/>
              </a:rPr>
              <a:t>Model</a:t>
            </a:r>
            <a:r>
              <a:rPr sz="1600" dirty="0">
                <a:latin typeface="Calibri"/>
                <a:cs typeface="Calibri"/>
              </a:rPr>
              <a:t>: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specific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model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car.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0991" y="306478"/>
            <a:ext cx="6522720" cy="171767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2557145" indent="-296545">
              <a:lnSpc>
                <a:spcPct val="100000"/>
              </a:lnSpc>
              <a:spcBef>
                <a:spcPts val="275"/>
              </a:spcBef>
              <a:buFont typeface="Wingdings"/>
              <a:buChar char=""/>
              <a:tabLst>
                <a:tab pos="2557145" algn="l"/>
              </a:tabLst>
            </a:pPr>
            <a:r>
              <a:rPr sz="2000" b="1" dirty="0">
                <a:latin typeface="Times New Roman"/>
                <a:cs typeface="Times New Roman"/>
              </a:rPr>
              <a:t>Data</a:t>
            </a:r>
            <a:r>
              <a:rPr sz="2000" b="1" spc="-10" dirty="0">
                <a:latin typeface="Times New Roman"/>
                <a:cs typeface="Times New Roman"/>
              </a:rPr>
              <a:t> Cleaning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40"/>
              </a:spcBef>
              <a:buFont typeface="Wingdings"/>
              <a:buChar char=""/>
              <a:tabLst>
                <a:tab pos="241300" algn="l"/>
              </a:tabLst>
            </a:pPr>
            <a:r>
              <a:rPr sz="1600" dirty="0">
                <a:latin typeface="Calibri"/>
                <a:cs typeface="Calibri"/>
              </a:rPr>
              <a:t>Upon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inspection,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found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there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were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missing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values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 </a:t>
            </a:r>
            <a:r>
              <a:rPr sz="1600" b="1" spc="-10" dirty="0">
                <a:latin typeface="Consolas"/>
                <a:cs typeface="Consolas"/>
              </a:rPr>
              <a:t>Price</a:t>
            </a:r>
            <a:endParaRPr sz="1600">
              <a:latin typeface="Consolas"/>
              <a:cs typeface="Consolas"/>
            </a:endParaRPr>
          </a:p>
          <a:p>
            <a:pPr marL="241300" marR="5080">
              <a:lnSpc>
                <a:spcPct val="113100"/>
              </a:lnSpc>
            </a:pPr>
            <a:r>
              <a:rPr sz="1600" dirty="0">
                <a:latin typeface="Calibri"/>
                <a:cs typeface="Calibri"/>
              </a:rPr>
              <a:t>and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onsolas"/>
                <a:cs typeface="Consolas"/>
              </a:rPr>
              <a:t>EngineV</a:t>
            </a:r>
            <a:r>
              <a:rPr sz="1600" b="1" spc="-515" dirty="0">
                <a:latin typeface="Consolas"/>
                <a:cs typeface="Consolas"/>
              </a:rPr>
              <a:t> </a:t>
            </a:r>
            <a:r>
              <a:rPr sz="1600" dirty="0">
                <a:latin typeface="Calibri"/>
                <a:cs typeface="Calibri"/>
              </a:rPr>
              <a:t>columns.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missing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values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 </a:t>
            </a:r>
            <a:r>
              <a:rPr sz="1600" b="1" dirty="0">
                <a:latin typeface="Consolas"/>
                <a:cs typeface="Consolas"/>
              </a:rPr>
              <a:t>EngineV</a:t>
            </a:r>
            <a:r>
              <a:rPr sz="1600" b="1" spc="-509" dirty="0">
                <a:latin typeface="Consolas"/>
                <a:cs typeface="Consolas"/>
              </a:rPr>
              <a:t> </a:t>
            </a:r>
            <a:r>
              <a:rPr sz="1600" dirty="0">
                <a:latin typeface="Calibri"/>
                <a:cs typeface="Calibri"/>
              </a:rPr>
              <a:t>were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filled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 </a:t>
            </a:r>
            <a:r>
              <a:rPr sz="1600" dirty="0">
                <a:latin typeface="Calibri"/>
                <a:cs typeface="Calibri"/>
              </a:rPr>
              <a:t>mean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column,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while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onsolas"/>
                <a:cs typeface="Consolas"/>
              </a:rPr>
              <a:t>Price</a:t>
            </a:r>
            <a:r>
              <a:rPr sz="1600" b="1" spc="-520" dirty="0">
                <a:latin typeface="Consolas"/>
                <a:cs typeface="Consolas"/>
              </a:rPr>
              <a:t> </a:t>
            </a:r>
            <a:r>
              <a:rPr sz="1600" dirty="0">
                <a:latin typeface="Calibri"/>
                <a:cs typeface="Calibri"/>
              </a:rPr>
              <a:t>column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also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addressed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ensure </a:t>
            </a:r>
            <a:r>
              <a:rPr sz="1600" dirty="0">
                <a:latin typeface="Calibri"/>
                <a:cs typeface="Calibri"/>
              </a:rPr>
              <a:t>no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missing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values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remained.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After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cleaning,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dataset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confirmed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to </a:t>
            </a:r>
            <a:r>
              <a:rPr sz="1600" dirty="0">
                <a:latin typeface="Calibri"/>
                <a:cs typeface="Calibri"/>
              </a:rPr>
              <a:t>have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missing</a:t>
            </a:r>
            <a:r>
              <a:rPr sz="1600" spc="-10" dirty="0">
                <a:latin typeface="Calibri"/>
                <a:cs typeface="Calibri"/>
              </a:rPr>
              <a:t> values.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8800" y="2963491"/>
            <a:ext cx="6598284" cy="519112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253365" indent="-228600">
              <a:lnSpc>
                <a:spcPct val="100000"/>
              </a:lnSpc>
              <a:spcBef>
                <a:spcPts val="940"/>
              </a:spcBef>
              <a:buSzPct val="88888"/>
              <a:buFont typeface="Wingdings"/>
              <a:buChar char=""/>
              <a:tabLst>
                <a:tab pos="253365" algn="l"/>
              </a:tabLst>
            </a:pPr>
            <a:r>
              <a:rPr sz="1800" b="1" dirty="0">
                <a:latin typeface="Times New Roman"/>
                <a:cs typeface="Times New Roman"/>
              </a:rPr>
              <a:t>Data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Exploration</a:t>
            </a:r>
            <a:endParaRPr sz="1800">
              <a:latin typeface="Times New Roman"/>
              <a:cs typeface="Times New Roman"/>
            </a:endParaRPr>
          </a:p>
          <a:p>
            <a:pPr marL="309880" indent="-297180">
              <a:lnSpc>
                <a:spcPct val="100000"/>
              </a:lnSpc>
              <a:spcBef>
                <a:spcPts val="944"/>
              </a:spcBef>
              <a:buFont typeface="Wingdings"/>
              <a:buChar char=""/>
              <a:tabLst>
                <a:tab pos="309880" algn="l"/>
              </a:tabLst>
            </a:pPr>
            <a:r>
              <a:rPr sz="2000" b="1" dirty="0">
                <a:latin typeface="Times New Roman"/>
                <a:cs typeface="Times New Roman"/>
              </a:rPr>
              <a:t>Unique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Values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Distribution</a:t>
            </a:r>
            <a:endParaRPr sz="2000">
              <a:latin typeface="Times New Roman"/>
              <a:cs typeface="Times New Roman"/>
            </a:endParaRPr>
          </a:p>
          <a:p>
            <a:pPr marL="250190" indent="-237490">
              <a:lnSpc>
                <a:spcPct val="100000"/>
              </a:lnSpc>
              <a:spcBef>
                <a:spcPts val="125"/>
              </a:spcBef>
              <a:buFont typeface="Wingdings"/>
              <a:buChar char=""/>
              <a:tabLst>
                <a:tab pos="250190" algn="l"/>
              </a:tabLst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unique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values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categorical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features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such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b="1" dirty="0">
                <a:latin typeface="Consolas"/>
                <a:cs typeface="Consolas"/>
              </a:rPr>
              <a:t>Brand</a:t>
            </a:r>
            <a:r>
              <a:rPr sz="1600" dirty="0">
                <a:latin typeface="Calibri"/>
                <a:cs typeface="Calibri"/>
              </a:rPr>
              <a:t>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onsolas"/>
                <a:cs typeface="Consolas"/>
              </a:rPr>
              <a:t>Body</a:t>
            </a:r>
            <a:r>
              <a:rPr sz="1600" dirty="0">
                <a:latin typeface="Calibri"/>
                <a:cs typeface="Calibri"/>
              </a:rPr>
              <a:t>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onsolas"/>
                <a:cs typeface="Consolas"/>
              </a:rPr>
              <a:t>Engine</a:t>
            </a:r>
            <a:endParaRPr sz="1600">
              <a:latin typeface="Consolas"/>
              <a:cs typeface="Consolas"/>
            </a:endParaRPr>
          </a:p>
          <a:p>
            <a:pPr marL="247650">
              <a:lnSpc>
                <a:spcPct val="100000"/>
              </a:lnSpc>
              <a:spcBef>
                <a:spcPts val="250"/>
              </a:spcBef>
            </a:pPr>
            <a:r>
              <a:rPr sz="1600" b="1" dirty="0">
                <a:latin typeface="Consolas"/>
                <a:cs typeface="Consolas"/>
              </a:rPr>
              <a:t>Type</a:t>
            </a:r>
            <a:r>
              <a:rPr sz="1600" dirty="0">
                <a:latin typeface="Calibri"/>
                <a:cs typeface="Calibri"/>
              </a:rPr>
              <a:t>,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onsolas"/>
                <a:cs typeface="Consolas"/>
              </a:rPr>
              <a:t>Registration</a:t>
            </a:r>
            <a:r>
              <a:rPr sz="1600" b="1" spc="-505" dirty="0">
                <a:latin typeface="Consolas"/>
                <a:cs typeface="Consolas"/>
              </a:rPr>
              <a:t> </a:t>
            </a:r>
            <a:r>
              <a:rPr sz="1600" dirty="0">
                <a:latin typeface="Calibri"/>
                <a:cs typeface="Calibri"/>
              </a:rPr>
              <a:t>were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analyzed.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distribution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these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features</a:t>
            </a:r>
            <a:endParaRPr sz="1600">
              <a:latin typeface="Calibri"/>
              <a:cs typeface="Calibri"/>
            </a:endParaRPr>
          </a:p>
          <a:p>
            <a:pPr marL="247650" marR="70485">
              <a:lnSpc>
                <a:spcPct val="113100"/>
              </a:lnSpc>
              <a:spcBef>
                <a:spcPts val="15"/>
              </a:spcBef>
            </a:pPr>
            <a:r>
              <a:rPr sz="1600" dirty="0">
                <a:latin typeface="Calibri"/>
                <a:cs typeface="Calibri"/>
              </a:rPr>
              <a:t>was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visualized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pie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charts,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which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provided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insights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proportions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different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brands,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body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types,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engine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types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dataset.</a:t>
            </a:r>
            <a:endParaRPr sz="1600">
              <a:latin typeface="Calibri"/>
              <a:cs typeface="Calibri"/>
            </a:endParaRPr>
          </a:p>
          <a:p>
            <a:pPr marL="309880" indent="-297180">
              <a:lnSpc>
                <a:spcPct val="100000"/>
              </a:lnSpc>
              <a:spcBef>
                <a:spcPts val="1914"/>
              </a:spcBef>
              <a:buFont typeface="Wingdings"/>
              <a:buChar char=""/>
              <a:tabLst>
                <a:tab pos="309880" algn="l"/>
              </a:tabLst>
            </a:pPr>
            <a:r>
              <a:rPr sz="2000" b="1" dirty="0">
                <a:latin typeface="Times New Roman"/>
                <a:cs typeface="Times New Roman"/>
              </a:rPr>
              <a:t>Statistical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Summary</a:t>
            </a:r>
            <a:endParaRPr sz="2000">
              <a:latin typeface="Times New Roman"/>
              <a:cs typeface="Times New Roman"/>
            </a:endParaRPr>
          </a:p>
          <a:p>
            <a:pPr marL="250190" indent="-237490">
              <a:lnSpc>
                <a:spcPct val="100000"/>
              </a:lnSpc>
              <a:spcBef>
                <a:spcPts val="125"/>
              </a:spcBef>
              <a:buFont typeface="Wingdings"/>
              <a:buChar char=""/>
              <a:tabLst>
                <a:tab pos="250190" algn="l"/>
              </a:tabLst>
            </a:pP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statistical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summary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numerical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features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generated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25" dirty="0">
                <a:latin typeface="Calibri"/>
                <a:cs typeface="Calibri"/>
              </a:rPr>
              <a:t> the</a:t>
            </a:r>
            <a:endParaRPr sz="1600">
              <a:latin typeface="Calibri"/>
              <a:cs typeface="Calibri"/>
            </a:endParaRPr>
          </a:p>
          <a:p>
            <a:pPr marL="247650">
              <a:lnSpc>
                <a:spcPct val="100000"/>
              </a:lnSpc>
              <a:spcBef>
                <a:spcPts val="250"/>
              </a:spcBef>
            </a:pPr>
            <a:r>
              <a:rPr sz="1600" b="1" dirty="0">
                <a:latin typeface="Consolas"/>
                <a:cs typeface="Consolas"/>
              </a:rPr>
              <a:t>describe()</a:t>
            </a:r>
            <a:r>
              <a:rPr sz="1600" b="1" spc="-509" dirty="0">
                <a:latin typeface="Consolas"/>
                <a:cs typeface="Consolas"/>
              </a:rPr>
              <a:t> </a:t>
            </a:r>
            <a:r>
              <a:rPr sz="1600" dirty="0">
                <a:latin typeface="Calibri"/>
                <a:cs typeface="Calibri"/>
              </a:rPr>
              <a:t>method.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Key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statistics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such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mean,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standard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deviation,</a:t>
            </a:r>
            <a:endParaRPr sz="1600">
              <a:latin typeface="Calibri"/>
              <a:cs typeface="Calibri"/>
            </a:endParaRPr>
          </a:p>
          <a:p>
            <a:pPr marL="247650" marR="328930">
              <a:lnSpc>
                <a:spcPct val="113100"/>
              </a:lnSpc>
              <a:spcBef>
                <a:spcPts val="15"/>
              </a:spcBef>
            </a:pPr>
            <a:r>
              <a:rPr sz="1600" dirty="0">
                <a:latin typeface="Calibri"/>
                <a:cs typeface="Calibri"/>
              </a:rPr>
              <a:t>minimum,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maximum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values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were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observed,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indicating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range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and </a:t>
            </a:r>
            <a:r>
              <a:rPr sz="1600" dirty="0">
                <a:latin typeface="Calibri"/>
                <a:cs typeface="Calibri"/>
              </a:rPr>
              <a:t>distribution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prices,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mileage,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engine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volume.</a:t>
            </a:r>
            <a:endParaRPr sz="1600">
              <a:latin typeface="Calibri"/>
              <a:cs typeface="Calibri"/>
            </a:endParaRPr>
          </a:p>
          <a:p>
            <a:pPr marL="309880" indent="-297180">
              <a:lnSpc>
                <a:spcPct val="100000"/>
              </a:lnSpc>
              <a:spcBef>
                <a:spcPts val="1889"/>
              </a:spcBef>
              <a:buFont typeface="Wingdings"/>
              <a:buChar char=""/>
              <a:tabLst>
                <a:tab pos="309880" algn="l"/>
              </a:tabLst>
            </a:pPr>
            <a:r>
              <a:rPr sz="2000" b="1" dirty="0">
                <a:latin typeface="Times New Roman"/>
                <a:cs typeface="Times New Roman"/>
              </a:rPr>
              <a:t>Correlation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Analysis</a:t>
            </a:r>
            <a:endParaRPr sz="2000">
              <a:latin typeface="Times New Roman"/>
              <a:cs typeface="Times New Roman"/>
            </a:endParaRPr>
          </a:p>
          <a:p>
            <a:pPr marL="253365" marR="112395" indent="-229235" algn="just">
              <a:lnSpc>
                <a:spcPts val="2170"/>
              </a:lnSpc>
              <a:buFont typeface="Wingdings"/>
              <a:buChar char=""/>
              <a:tabLst>
                <a:tab pos="253365" algn="l"/>
              </a:tabLst>
            </a:pP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correlation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matrix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created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understand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relationships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between </a:t>
            </a:r>
            <a:r>
              <a:rPr sz="1600" dirty="0">
                <a:latin typeface="Calibri"/>
                <a:cs typeface="Calibri"/>
              </a:rPr>
              <a:t>different</a:t>
            </a:r>
            <a:r>
              <a:rPr sz="1600" spc="-9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features.</a:t>
            </a:r>
            <a:r>
              <a:rPr sz="1600" spc="-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correlation</a:t>
            </a:r>
            <a:r>
              <a:rPr sz="1600" spc="-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between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b="1" spc="-75" dirty="0">
                <a:latin typeface="Consolas"/>
                <a:cs typeface="Consolas"/>
              </a:rPr>
              <a:t>Price</a:t>
            </a:r>
            <a:r>
              <a:rPr sz="1600" b="1" spc="-140" dirty="0">
                <a:latin typeface="Consolas"/>
                <a:cs typeface="Consolas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other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features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was </a:t>
            </a:r>
            <a:r>
              <a:rPr sz="1600" dirty="0">
                <a:latin typeface="Calibri"/>
                <a:cs typeface="Calibri"/>
              </a:rPr>
              <a:t>particularly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noted,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onsolas"/>
                <a:cs typeface="Consolas"/>
              </a:rPr>
              <a:t>Year</a:t>
            </a:r>
            <a:r>
              <a:rPr sz="1600" b="1" spc="-525" dirty="0">
                <a:latin typeface="Consolas"/>
                <a:cs typeface="Consolas"/>
              </a:rPr>
              <a:t> </a:t>
            </a:r>
            <a:r>
              <a:rPr sz="1600" dirty="0">
                <a:latin typeface="Calibri"/>
                <a:cs typeface="Calibri"/>
              </a:rPr>
              <a:t>showing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moderate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positive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correlation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with</a:t>
            </a:r>
            <a:endParaRPr sz="1600">
              <a:latin typeface="Calibri"/>
              <a:cs typeface="Calibri"/>
            </a:endParaRPr>
          </a:p>
          <a:p>
            <a:pPr marL="253365">
              <a:lnSpc>
                <a:spcPct val="100000"/>
              </a:lnSpc>
              <a:spcBef>
                <a:spcPts val="145"/>
              </a:spcBef>
            </a:pPr>
            <a:r>
              <a:rPr sz="1600" b="1" spc="-10" dirty="0">
                <a:latin typeface="Consolas"/>
                <a:cs typeface="Consolas"/>
              </a:rPr>
              <a:t>Price</a:t>
            </a:r>
            <a:r>
              <a:rPr sz="1600" spc="-10" dirty="0"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0991" y="9313874"/>
            <a:ext cx="21507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8888"/>
              <a:buFont typeface="Wingdings"/>
              <a:buChar char=""/>
              <a:tabLst>
                <a:tab pos="241300" algn="l"/>
              </a:tabLst>
            </a:pPr>
            <a:r>
              <a:rPr sz="1800" b="1" dirty="0">
                <a:latin typeface="Times New Roman"/>
                <a:cs typeface="Times New Roman"/>
              </a:rPr>
              <a:t>Data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Preprocessing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8800" y="306478"/>
            <a:ext cx="6428105" cy="335343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309880" indent="-297180">
              <a:lnSpc>
                <a:spcPct val="100000"/>
              </a:lnSpc>
              <a:spcBef>
                <a:spcPts val="275"/>
              </a:spcBef>
              <a:buFont typeface="Wingdings"/>
              <a:buChar char=""/>
              <a:tabLst>
                <a:tab pos="309880" algn="l"/>
              </a:tabLst>
            </a:pPr>
            <a:r>
              <a:rPr sz="2000" b="1" dirty="0">
                <a:latin typeface="Times New Roman"/>
                <a:cs typeface="Times New Roman"/>
              </a:rPr>
              <a:t>Label </a:t>
            </a:r>
            <a:r>
              <a:rPr sz="2000" b="1" spc="-10" dirty="0">
                <a:latin typeface="Times New Roman"/>
                <a:cs typeface="Times New Roman"/>
              </a:rPr>
              <a:t>Encoding</a:t>
            </a:r>
            <a:endParaRPr sz="2000">
              <a:latin typeface="Times New Roman"/>
              <a:cs typeface="Times New Roman"/>
            </a:endParaRPr>
          </a:p>
          <a:p>
            <a:pPr marL="247650" marR="207645" indent="-235585">
              <a:lnSpc>
                <a:spcPts val="2170"/>
              </a:lnSpc>
              <a:buFont typeface="Wingdings"/>
              <a:buChar char=""/>
              <a:tabLst>
                <a:tab pos="247650" algn="l"/>
                <a:tab pos="249554" algn="l"/>
              </a:tabLst>
            </a:pPr>
            <a:r>
              <a:rPr sz="1600" dirty="0">
                <a:latin typeface="Calibri"/>
                <a:cs typeface="Calibri"/>
              </a:rPr>
              <a:t>	Categorical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features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were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converted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numerical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values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label </a:t>
            </a:r>
            <a:r>
              <a:rPr sz="1600" dirty="0">
                <a:latin typeface="Calibri"/>
                <a:cs typeface="Calibri"/>
              </a:rPr>
              <a:t>encoding.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transformation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applied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 </a:t>
            </a:r>
            <a:r>
              <a:rPr sz="1600" b="1" dirty="0">
                <a:latin typeface="Consolas"/>
                <a:cs typeface="Consolas"/>
              </a:rPr>
              <a:t>Brand</a:t>
            </a:r>
            <a:r>
              <a:rPr sz="1600" dirty="0">
                <a:latin typeface="Calibri"/>
                <a:cs typeface="Calibri"/>
              </a:rPr>
              <a:t>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onsolas"/>
                <a:cs typeface="Consolas"/>
              </a:rPr>
              <a:t>Body</a:t>
            </a:r>
            <a:r>
              <a:rPr sz="1600" dirty="0">
                <a:latin typeface="Calibri"/>
                <a:cs typeface="Calibri"/>
              </a:rPr>
              <a:t>,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onsolas"/>
                <a:cs typeface="Consolas"/>
              </a:rPr>
              <a:t>Engine </a:t>
            </a:r>
            <a:r>
              <a:rPr sz="1600" b="1" dirty="0">
                <a:latin typeface="Consolas"/>
                <a:cs typeface="Consolas"/>
              </a:rPr>
              <a:t>Type</a:t>
            </a:r>
            <a:r>
              <a:rPr sz="1600" dirty="0">
                <a:latin typeface="Calibri"/>
                <a:cs typeface="Calibri"/>
              </a:rPr>
              <a:t>,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b="1" dirty="0">
                <a:latin typeface="Consolas"/>
                <a:cs typeface="Consolas"/>
              </a:rPr>
              <a:t>Registration</a:t>
            </a:r>
            <a:r>
              <a:rPr sz="1600" dirty="0">
                <a:latin typeface="Calibri"/>
                <a:cs typeface="Calibri"/>
              </a:rPr>
              <a:t>,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b="1" dirty="0">
                <a:latin typeface="Consolas"/>
                <a:cs typeface="Consolas"/>
              </a:rPr>
              <a:t>Model</a:t>
            </a:r>
            <a:r>
              <a:rPr sz="1600" b="1" spc="-509" dirty="0">
                <a:latin typeface="Consolas"/>
                <a:cs typeface="Consolas"/>
              </a:rPr>
              <a:t> </a:t>
            </a:r>
            <a:r>
              <a:rPr sz="1600" spc="-10" dirty="0">
                <a:latin typeface="Calibri"/>
                <a:cs typeface="Calibri"/>
              </a:rPr>
              <a:t>columns.</a:t>
            </a:r>
            <a:endParaRPr sz="1600">
              <a:latin typeface="Calibri"/>
              <a:cs typeface="Calibri"/>
            </a:endParaRPr>
          </a:p>
          <a:p>
            <a:pPr marL="309880" indent="-297180">
              <a:lnSpc>
                <a:spcPct val="100000"/>
              </a:lnSpc>
              <a:spcBef>
                <a:spcPts val="1280"/>
              </a:spcBef>
              <a:buFont typeface="Wingdings"/>
              <a:buChar char=""/>
              <a:tabLst>
                <a:tab pos="309880" algn="l"/>
              </a:tabLst>
            </a:pPr>
            <a:r>
              <a:rPr sz="2000" b="1" dirty="0">
                <a:latin typeface="Times New Roman"/>
                <a:cs typeface="Times New Roman"/>
              </a:rPr>
              <a:t>Handling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Outliers</a:t>
            </a:r>
            <a:endParaRPr sz="2000">
              <a:latin typeface="Times New Roman"/>
              <a:cs typeface="Times New Roman"/>
            </a:endParaRPr>
          </a:p>
          <a:p>
            <a:pPr marL="247650" marR="5080" indent="-235585">
              <a:lnSpc>
                <a:spcPts val="2170"/>
              </a:lnSpc>
              <a:buFont typeface="Wingdings"/>
              <a:buChar char=""/>
              <a:tabLst>
                <a:tab pos="247650" algn="l"/>
                <a:tab pos="249554" algn="l"/>
              </a:tabLst>
            </a:pPr>
            <a:r>
              <a:rPr sz="1600" dirty="0">
                <a:latin typeface="Calibri"/>
                <a:cs typeface="Calibri"/>
              </a:rPr>
              <a:t>	Outliers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were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identified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Interquartile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Range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(IQR)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method.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A </a:t>
            </a:r>
            <a:r>
              <a:rPr sz="1600" dirty="0">
                <a:latin typeface="Calibri"/>
                <a:cs typeface="Calibri"/>
              </a:rPr>
              <a:t>boxplot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generated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visualize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distribution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identify </a:t>
            </a:r>
            <a:r>
              <a:rPr sz="1600" dirty="0">
                <a:latin typeface="Calibri"/>
                <a:cs typeface="Calibri"/>
              </a:rPr>
              <a:t>any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extreme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values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could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affect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model's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performance.</a:t>
            </a:r>
            <a:endParaRPr sz="1600">
              <a:latin typeface="Calibri"/>
              <a:cs typeface="Calibri"/>
            </a:endParaRPr>
          </a:p>
          <a:p>
            <a:pPr marL="309880" indent="-297180">
              <a:lnSpc>
                <a:spcPct val="100000"/>
              </a:lnSpc>
              <a:spcBef>
                <a:spcPts val="295"/>
              </a:spcBef>
              <a:buFont typeface="Wingdings"/>
              <a:buChar char=""/>
              <a:tabLst>
                <a:tab pos="309880" algn="l"/>
              </a:tabLst>
            </a:pPr>
            <a:r>
              <a:rPr sz="2000" b="1" dirty="0">
                <a:latin typeface="Times New Roman"/>
                <a:cs typeface="Times New Roman"/>
              </a:rPr>
              <a:t>Feature</a:t>
            </a:r>
            <a:r>
              <a:rPr sz="2000" b="1" spc="-10" dirty="0">
                <a:latin typeface="Times New Roman"/>
                <a:cs typeface="Times New Roman"/>
              </a:rPr>
              <a:t> Selection</a:t>
            </a:r>
            <a:endParaRPr sz="2000">
              <a:latin typeface="Times New Roman"/>
              <a:cs typeface="Times New Roman"/>
            </a:endParaRPr>
          </a:p>
          <a:p>
            <a:pPr marL="253365" marR="227329" indent="-229235">
              <a:lnSpc>
                <a:spcPts val="2170"/>
              </a:lnSpc>
              <a:buFont typeface="Wingdings"/>
              <a:buChar char=""/>
              <a:tabLst>
                <a:tab pos="253365" algn="l"/>
              </a:tabLst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features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were</a:t>
            </a:r>
            <a:r>
              <a:rPr sz="1600" spc="-10" dirty="0">
                <a:latin typeface="Calibri"/>
                <a:cs typeface="Calibri"/>
              </a:rPr>
              <a:t> selected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model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training,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onsolas"/>
                <a:cs typeface="Consolas"/>
              </a:rPr>
              <a:t>Price</a:t>
            </a:r>
            <a:r>
              <a:rPr sz="1600" b="1" spc="-525" dirty="0">
                <a:latin typeface="Consolas"/>
                <a:cs typeface="Consolas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target </a:t>
            </a:r>
            <a:r>
              <a:rPr sz="1600" dirty="0">
                <a:latin typeface="Calibri"/>
                <a:cs typeface="Calibri"/>
              </a:rPr>
              <a:t>variable.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remaining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features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were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input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variables.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8800" y="4506659"/>
            <a:ext cx="6567805" cy="5170805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253365" indent="-228600">
              <a:lnSpc>
                <a:spcPct val="100000"/>
              </a:lnSpc>
              <a:spcBef>
                <a:spcPts val="950"/>
              </a:spcBef>
              <a:buSzPct val="88888"/>
              <a:buFont typeface="Wingdings"/>
              <a:buChar char=""/>
              <a:tabLst>
                <a:tab pos="253365" algn="l"/>
              </a:tabLst>
            </a:pPr>
            <a:r>
              <a:rPr sz="1800" b="1" dirty="0">
                <a:latin typeface="Times New Roman"/>
                <a:cs typeface="Times New Roman"/>
              </a:rPr>
              <a:t>Model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Training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Evaluation</a:t>
            </a:r>
            <a:endParaRPr sz="1800">
              <a:latin typeface="Times New Roman"/>
              <a:cs typeface="Times New Roman"/>
            </a:endParaRPr>
          </a:p>
          <a:p>
            <a:pPr marL="309880" indent="-297180">
              <a:lnSpc>
                <a:spcPct val="100000"/>
              </a:lnSpc>
              <a:spcBef>
                <a:spcPts val="950"/>
              </a:spcBef>
              <a:buFont typeface="Wingdings"/>
              <a:buChar char=""/>
              <a:tabLst>
                <a:tab pos="309880" algn="l"/>
              </a:tabLst>
            </a:pPr>
            <a:r>
              <a:rPr sz="2000" b="1" dirty="0">
                <a:latin typeface="Times New Roman"/>
                <a:cs typeface="Times New Roman"/>
              </a:rPr>
              <a:t>Data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Splitting</a:t>
            </a:r>
            <a:endParaRPr sz="2000">
              <a:latin typeface="Times New Roman"/>
              <a:cs typeface="Times New Roman"/>
            </a:endParaRPr>
          </a:p>
          <a:p>
            <a:pPr marL="250190" indent="-237490">
              <a:lnSpc>
                <a:spcPct val="100000"/>
              </a:lnSpc>
              <a:spcBef>
                <a:spcPts val="140"/>
              </a:spcBef>
              <a:buFont typeface="Wingdings"/>
              <a:buChar char=""/>
              <a:tabLst>
                <a:tab pos="250190" algn="l"/>
              </a:tabLst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dataset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split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training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testing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sets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80-</a:t>
            </a:r>
            <a:r>
              <a:rPr sz="1600" dirty="0">
                <a:latin typeface="Calibri"/>
                <a:cs typeface="Calibri"/>
              </a:rPr>
              <a:t>20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split.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</a:t>
            </a:r>
            <a:endParaRPr sz="1600">
              <a:latin typeface="Calibri"/>
              <a:cs typeface="Calibri"/>
            </a:endParaRPr>
          </a:p>
          <a:p>
            <a:pPr marL="247650" marR="224790">
              <a:lnSpc>
                <a:spcPct val="113100"/>
              </a:lnSpc>
            </a:pPr>
            <a:r>
              <a:rPr sz="1600" dirty="0">
                <a:latin typeface="Calibri"/>
                <a:cs typeface="Calibri"/>
              </a:rPr>
              <a:t>training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train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model,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while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testing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to </a:t>
            </a:r>
            <a:r>
              <a:rPr sz="1600" dirty="0">
                <a:latin typeface="Calibri"/>
                <a:cs typeface="Calibri"/>
              </a:rPr>
              <a:t>evaluate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performance.</a:t>
            </a:r>
            <a:endParaRPr sz="1600">
              <a:latin typeface="Calibri"/>
              <a:cs typeface="Calibri"/>
            </a:endParaRPr>
          </a:p>
          <a:p>
            <a:pPr marL="309880" indent="-297180">
              <a:lnSpc>
                <a:spcPct val="100000"/>
              </a:lnSpc>
              <a:spcBef>
                <a:spcPts val="1905"/>
              </a:spcBef>
              <a:buFont typeface="Wingdings"/>
              <a:buChar char=""/>
              <a:tabLst>
                <a:tab pos="309880" algn="l"/>
              </a:tabLst>
            </a:pPr>
            <a:r>
              <a:rPr sz="2000" b="1" dirty="0">
                <a:latin typeface="Times New Roman"/>
                <a:cs typeface="Times New Roman"/>
              </a:rPr>
              <a:t>Feature</a:t>
            </a:r>
            <a:r>
              <a:rPr sz="2000" b="1" spc="-10" dirty="0">
                <a:latin typeface="Times New Roman"/>
                <a:cs typeface="Times New Roman"/>
              </a:rPr>
              <a:t> Scaling</a:t>
            </a:r>
            <a:endParaRPr sz="2000">
              <a:latin typeface="Times New Roman"/>
              <a:cs typeface="Times New Roman"/>
            </a:endParaRPr>
          </a:p>
          <a:p>
            <a:pPr marL="175895" marR="469265" indent="-163830">
              <a:lnSpc>
                <a:spcPts val="2170"/>
              </a:lnSpc>
              <a:buSzPct val="68750"/>
              <a:buFont typeface="Wingdings"/>
              <a:buChar char=""/>
              <a:tabLst>
                <a:tab pos="247650" algn="l"/>
              </a:tabLst>
            </a:pPr>
            <a:r>
              <a:rPr sz="1600" dirty="0">
                <a:latin typeface="Calibri"/>
                <a:cs typeface="Calibri"/>
              </a:rPr>
              <a:t>Standardization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applied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features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b="1" dirty="0">
                <a:latin typeface="Consolas"/>
                <a:cs typeface="Consolas"/>
              </a:rPr>
              <a:t>StandardScaler</a:t>
            </a:r>
            <a:r>
              <a:rPr sz="1600" b="1" spc="-509" dirty="0">
                <a:latin typeface="Consolas"/>
                <a:cs typeface="Consolas"/>
              </a:rPr>
              <a:t> </a:t>
            </a:r>
            <a:r>
              <a:rPr sz="1600" spc="-25" dirty="0">
                <a:latin typeface="Calibri"/>
                <a:cs typeface="Calibri"/>
              </a:rPr>
              <a:t>to 	</a:t>
            </a:r>
            <a:r>
              <a:rPr sz="1600" dirty="0">
                <a:latin typeface="Calibri"/>
                <a:cs typeface="Calibri"/>
              </a:rPr>
              <a:t>ensure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features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contributed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equally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model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training</a:t>
            </a:r>
            <a:r>
              <a:rPr sz="1100" spc="-10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marL="309880" indent="-297180">
              <a:lnSpc>
                <a:spcPct val="100000"/>
              </a:lnSpc>
              <a:spcBef>
                <a:spcPts val="1780"/>
              </a:spcBef>
              <a:buFont typeface="Wingdings"/>
              <a:buChar char=""/>
              <a:tabLst>
                <a:tab pos="309880" algn="l"/>
              </a:tabLst>
            </a:pPr>
            <a:r>
              <a:rPr sz="2000" b="1" dirty="0">
                <a:latin typeface="Times New Roman"/>
                <a:cs typeface="Times New Roman"/>
              </a:rPr>
              <a:t>Model</a:t>
            </a:r>
            <a:r>
              <a:rPr sz="2000" b="1" spc="-10" dirty="0">
                <a:latin typeface="Times New Roman"/>
                <a:cs typeface="Times New Roman"/>
              </a:rPr>
              <a:t> Selection</a:t>
            </a:r>
            <a:endParaRPr sz="2000">
              <a:latin typeface="Times New Roman"/>
              <a:cs typeface="Times New Roman"/>
            </a:endParaRPr>
          </a:p>
          <a:p>
            <a:pPr marL="247650" marR="459740" indent="-235585">
              <a:lnSpc>
                <a:spcPts val="2170"/>
              </a:lnSpc>
              <a:buFont typeface="Wingdings"/>
              <a:buChar char=""/>
              <a:tabLst>
                <a:tab pos="247650" algn="l"/>
                <a:tab pos="249554" algn="l"/>
              </a:tabLst>
            </a:pPr>
            <a:r>
              <a:rPr sz="1600" dirty="0">
                <a:latin typeface="Calibri"/>
                <a:cs typeface="Calibri"/>
              </a:rPr>
              <a:t>	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Linear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Regression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chosen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analysis.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model</a:t>
            </a:r>
            <a:r>
              <a:rPr sz="1600" spc="-25" dirty="0">
                <a:latin typeface="Calibri"/>
                <a:cs typeface="Calibri"/>
              </a:rPr>
              <a:t> was </a:t>
            </a:r>
            <a:r>
              <a:rPr sz="1600" dirty="0">
                <a:latin typeface="Calibri"/>
                <a:cs typeface="Calibri"/>
              </a:rPr>
              <a:t>trained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scaled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training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data.</a:t>
            </a:r>
            <a:endParaRPr sz="1600">
              <a:latin typeface="Calibri"/>
              <a:cs typeface="Calibri"/>
            </a:endParaRPr>
          </a:p>
          <a:p>
            <a:pPr marL="309880" indent="-297180">
              <a:lnSpc>
                <a:spcPct val="100000"/>
              </a:lnSpc>
              <a:spcBef>
                <a:spcPts val="1780"/>
              </a:spcBef>
              <a:buFont typeface="Wingdings"/>
              <a:buChar char=""/>
              <a:tabLst>
                <a:tab pos="309880" algn="l"/>
              </a:tabLst>
            </a:pPr>
            <a:r>
              <a:rPr sz="2000" b="1" dirty="0">
                <a:latin typeface="Times New Roman"/>
                <a:cs typeface="Times New Roman"/>
              </a:rPr>
              <a:t>Model</a:t>
            </a:r>
            <a:r>
              <a:rPr sz="2000" b="1" spc="-10" dirty="0">
                <a:latin typeface="Times New Roman"/>
                <a:cs typeface="Times New Roman"/>
              </a:rPr>
              <a:t> Evaluation</a:t>
            </a:r>
            <a:endParaRPr sz="2000">
              <a:latin typeface="Times New Roman"/>
              <a:cs typeface="Times New Roman"/>
            </a:endParaRPr>
          </a:p>
          <a:p>
            <a:pPr marL="247650" marR="5080" indent="-235585">
              <a:lnSpc>
                <a:spcPts val="2170"/>
              </a:lnSpc>
              <a:buFont typeface="Wingdings"/>
              <a:buChar char=""/>
              <a:tabLst>
                <a:tab pos="247650" algn="l"/>
                <a:tab pos="249554" algn="l"/>
              </a:tabLst>
            </a:pPr>
            <a:r>
              <a:rPr sz="1600" dirty="0">
                <a:latin typeface="Calibri"/>
                <a:cs typeface="Calibri"/>
              </a:rPr>
              <a:t>	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model's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performance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evaluated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R-</a:t>
            </a:r>
            <a:r>
              <a:rPr sz="1600" dirty="0">
                <a:latin typeface="Calibri"/>
                <a:cs typeface="Calibri"/>
              </a:rPr>
              <a:t>squared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score</a:t>
            </a:r>
            <a:r>
              <a:rPr sz="1600" spc="-25" dirty="0">
                <a:latin typeface="Calibri"/>
                <a:cs typeface="Calibri"/>
              </a:rPr>
              <a:t> and </a:t>
            </a:r>
            <a:r>
              <a:rPr sz="1600" dirty="0">
                <a:latin typeface="Calibri"/>
                <a:cs typeface="Calibri"/>
              </a:rPr>
              <a:t>Mean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Squared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Error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(MSE).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initial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evaluation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yielded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R-squared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score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approximately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-315,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indicating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poor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model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performance.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However,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after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3800" y="303682"/>
            <a:ext cx="5518785" cy="577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1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fitting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without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scaling,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R-</a:t>
            </a:r>
            <a:r>
              <a:rPr sz="1600" dirty="0">
                <a:latin typeface="Calibri"/>
                <a:cs typeface="Calibri"/>
              </a:rPr>
              <a:t>squared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score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improved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to </a:t>
            </a:r>
            <a:r>
              <a:rPr sz="1600" dirty="0">
                <a:latin typeface="Calibri"/>
                <a:cs typeface="Calibri"/>
              </a:rPr>
              <a:t>approximately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0.35,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suggesting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moderate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fit.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8800" y="1982331"/>
            <a:ext cx="6335395" cy="179514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091180" indent="-267970">
              <a:lnSpc>
                <a:spcPct val="100000"/>
              </a:lnSpc>
              <a:spcBef>
                <a:spcPts val="530"/>
              </a:spcBef>
              <a:buFont typeface="Wingdings"/>
              <a:buChar char=""/>
              <a:tabLst>
                <a:tab pos="3091180" algn="l"/>
              </a:tabLst>
            </a:pPr>
            <a:r>
              <a:rPr sz="1800" b="1" spc="-10" dirty="0">
                <a:latin typeface="Times New Roman"/>
                <a:cs typeface="Times New Roman"/>
              </a:rPr>
              <a:t>Results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80"/>
              </a:spcBef>
              <a:buFont typeface="Wingdings"/>
              <a:buChar char=""/>
              <a:tabLst>
                <a:tab pos="241300" algn="l"/>
              </a:tabLst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results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model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evaluation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follows: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34"/>
              </a:spcBef>
              <a:buFont typeface="Wingdings"/>
              <a:buChar char=""/>
              <a:tabLst>
                <a:tab pos="241300" algn="l"/>
              </a:tabLst>
            </a:pPr>
            <a:r>
              <a:rPr sz="1600" b="1" spc="-10" dirty="0">
                <a:latin typeface="Calibri"/>
                <a:cs typeface="Calibri"/>
              </a:rPr>
              <a:t>R-</a:t>
            </a:r>
            <a:r>
              <a:rPr sz="1600" b="1" dirty="0">
                <a:latin typeface="Calibri"/>
                <a:cs typeface="Calibri"/>
              </a:rPr>
              <a:t>squared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Score</a:t>
            </a:r>
            <a:r>
              <a:rPr sz="1600" dirty="0">
                <a:latin typeface="Calibri"/>
                <a:cs typeface="Calibri"/>
              </a:rPr>
              <a:t>: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0.35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55"/>
              </a:spcBef>
              <a:buFont typeface="Wingdings"/>
              <a:buChar char=""/>
              <a:tabLst>
                <a:tab pos="241300" algn="l"/>
              </a:tabLst>
            </a:pPr>
            <a:r>
              <a:rPr sz="1600" b="1" dirty="0">
                <a:latin typeface="Calibri"/>
                <a:cs typeface="Calibri"/>
              </a:rPr>
              <a:t>Mean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Squared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Error</a:t>
            </a:r>
            <a:r>
              <a:rPr sz="1600" dirty="0">
                <a:latin typeface="Calibri"/>
                <a:cs typeface="Calibri"/>
              </a:rPr>
              <a:t>: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426,102,729.72</a:t>
            </a:r>
            <a:endParaRPr sz="1600">
              <a:latin typeface="Calibri"/>
              <a:cs typeface="Calibri"/>
            </a:endParaRPr>
          </a:p>
          <a:p>
            <a:pPr marL="241300" marR="5080" indent="-229235">
              <a:lnSpc>
                <a:spcPts val="2170"/>
              </a:lnSpc>
              <a:spcBef>
                <a:spcPts val="70"/>
              </a:spcBef>
              <a:buFont typeface="Wingdings"/>
              <a:buChar char=""/>
              <a:tabLst>
                <a:tab pos="241300" algn="l"/>
              </a:tabLst>
            </a:pPr>
            <a:r>
              <a:rPr sz="1600" dirty="0">
                <a:latin typeface="Calibri"/>
                <a:cs typeface="Calibri"/>
              </a:rPr>
              <a:t>These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results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indicate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while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captures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some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variance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5" dirty="0">
                <a:latin typeface="Calibri"/>
                <a:cs typeface="Calibri"/>
              </a:rPr>
              <a:t> the </a:t>
            </a:r>
            <a:r>
              <a:rPr sz="1600" dirty="0">
                <a:latin typeface="Calibri"/>
                <a:cs typeface="Calibri"/>
              </a:rPr>
              <a:t>data,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there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significant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room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improvement</a:t>
            </a:r>
            <a:r>
              <a:rPr sz="1100" spc="-10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8800" y="4544557"/>
            <a:ext cx="6518909" cy="265620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900045" indent="-267335">
              <a:lnSpc>
                <a:spcPct val="100000"/>
              </a:lnSpc>
              <a:spcBef>
                <a:spcPts val="530"/>
              </a:spcBef>
              <a:buFont typeface="Wingdings"/>
              <a:buChar char=""/>
              <a:tabLst>
                <a:tab pos="2900045" algn="l"/>
              </a:tabLst>
            </a:pPr>
            <a:r>
              <a:rPr sz="1800" b="1" spc="-10" dirty="0">
                <a:latin typeface="Times New Roman"/>
                <a:cs typeface="Times New Roman"/>
              </a:rPr>
              <a:t>Conclusion</a:t>
            </a:r>
            <a:endParaRPr sz="1800">
              <a:latin typeface="Times New Roman"/>
              <a:cs typeface="Times New Roman"/>
            </a:endParaRPr>
          </a:p>
          <a:p>
            <a:pPr marL="241300" marR="248285" indent="-229235" algn="just">
              <a:lnSpc>
                <a:spcPct val="113199"/>
              </a:lnSpc>
              <a:spcBef>
                <a:spcPts val="130"/>
              </a:spcBef>
              <a:buFont typeface="Wingdings"/>
              <a:buChar char=""/>
              <a:tabLst>
                <a:tab pos="241300" algn="l"/>
              </a:tabLst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price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prediction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demonstrated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ability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predict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prices 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various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features,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but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performance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metrics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indicate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 </a:t>
            </a:r>
            <a:r>
              <a:rPr sz="1600" dirty="0">
                <a:latin typeface="Calibri"/>
                <a:cs typeface="Calibri"/>
              </a:rPr>
              <a:t>model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yet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robust.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Future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work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could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involve:</a:t>
            </a:r>
            <a:endParaRPr sz="1600">
              <a:latin typeface="Calibri"/>
              <a:cs typeface="Calibri"/>
            </a:endParaRPr>
          </a:p>
          <a:p>
            <a:pPr marL="241300" marR="26034" indent="-229235" algn="just">
              <a:lnSpc>
                <a:spcPct val="113100"/>
              </a:lnSpc>
              <a:spcBef>
                <a:spcPts val="204"/>
              </a:spcBef>
              <a:buFont typeface="Wingdings"/>
              <a:buChar char=""/>
              <a:tabLst>
                <a:tab pos="241300" algn="l"/>
              </a:tabLst>
            </a:pPr>
            <a:r>
              <a:rPr sz="1600" dirty="0">
                <a:latin typeface="Calibri"/>
                <a:cs typeface="Calibri"/>
              </a:rPr>
              <a:t>Exploring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more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complex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models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such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Decision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Trees,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Random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Forests,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or </a:t>
            </a:r>
            <a:r>
              <a:rPr sz="1600" dirty="0">
                <a:latin typeface="Calibri"/>
                <a:cs typeface="Calibri"/>
              </a:rPr>
              <a:t>Gradient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Boosting.</a:t>
            </a:r>
            <a:endParaRPr sz="1600">
              <a:latin typeface="Calibri"/>
              <a:cs typeface="Calibri"/>
            </a:endParaRPr>
          </a:p>
          <a:p>
            <a:pPr marL="241300" indent="-228600" algn="just">
              <a:lnSpc>
                <a:spcPct val="100000"/>
              </a:lnSpc>
              <a:spcBef>
                <a:spcPts val="455"/>
              </a:spcBef>
              <a:buFont typeface="Wingdings"/>
              <a:buChar char=""/>
              <a:tabLst>
                <a:tab pos="241300" algn="l"/>
              </a:tabLst>
            </a:pPr>
            <a:r>
              <a:rPr sz="1600" dirty="0">
                <a:latin typeface="Calibri"/>
                <a:cs typeface="Calibri"/>
              </a:rPr>
              <a:t>Conducting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hyperparameter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tuning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optimize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model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performance.</a:t>
            </a:r>
            <a:endParaRPr sz="1600">
              <a:latin typeface="Calibri"/>
              <a:cs typeface="Calibri"/>
            </a:endParaRPr>
          </a:p>
          <a:p>
            <a:pPr marL="241300" marR="5080" indent="-229235" algn="just">
              <a:lnSpc>
                <a:spcPct val="113100"/>
              </a:lnSpc>
              <a:spcBef>
                <a:spcPts val="204"/>
              </a:spcBef>
              <a:buFont typeface="Wingdings"/>
              <a:buChar char=""/>
              <a:tabLst>
                <a:tab pos="241300" algn="l"/>
              </a:tabLst>
            </a:pPr>
            <a:r>
              <a:rPr sz="1600" dirty="0">
                <a:latin typeface="Calibri"/>
                <a:cs typeface="Calibri"/>
              </a:rPr>
              <a:t>Incorporating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additional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features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external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datasets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enhance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predictive power.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8800" y="7821597"/>
            <a:ext cx="5904230" cy="120205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2546350" indent="-267335">
              <a:lnSpc>
                <a:spcPct val="100000"/>
              </a:lnSpc>
              <a:spcBef>
                <a:spcPts val="545"/>
              </a:spcBef>
              <a:buFont typeface="Wingdings"/>
              <a:buChar char=""/>
              <a:tabLst>
                <a:tab pos="2546350" algn="l"/>
              </a:tabLst>
            </a:pPr>
            <a:r>
              <a:rPr sz="1800" b="1" spc="-10" dirty="0">
                <a:latin typeface="Times New Roman"/>
                <a:cs typeface="Times New Roman"/>
              </a:rPr>
              <a:t>Recommendations</a:t>
            </a:r>
            <a:endParaRPr sz="1800">
              <a:latin typeface="Times New Roman"/>
              <a:cs typeface="Times New Roman"/>
            </a:endParaRPr>
          </a:p>
          <a:p>
            <a:pPr marL="12700" marR="5080" indent="237490">
              <a:lnSpc>
                <a:spcPct val="113100"/>
              </a:lnSpc>
              <a:spcBef>
                <a:spcPts val="140"/>
              </a:spcBef>
              <a:buFont typeface="Wingdings"/>
              <a:buChar char=""/>
              <a:tabLst>
                <a:tab pos="250190" algn="l"/>
              </a:tabLst>
            </a:pPr>
            <a:r>
              <a:rPr sz="1600" b="1" dirty="0">
                <a:latin typeface="Calibri"/>
                <a:cs typeface="Calibri"/>
              </a:rPr>
              <a:t>Data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Enrichment</a:t>
            </a:r>
            <a:r>
              <a:rPr sz="1600" dirty="0">
                <a:latin typeface="Calibri"/>
                <a:cs typeface="Calibri"/>
              </a:rPr>
              <a:t>: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Consider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adding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more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features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could </a:t>
            </a:r>
            <a:r>
              <a:rPr sz="1600" dirty="0">
                <a:latin typeface="Calibri"/>
                <a:cs typeface="Calibri"/>
              </a:rPr>
              <a:t>influence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prices,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such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geographical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location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market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trends.</a:t>
            </a:r>
            <a:r>
              <a:rPr sz="1600" spc="330" dirty="0">
                <a:latin typeface="Calibri"/>
                <a:cs typeface="Calibri"/>
              </a:rPr>
              <a:t> </a:t>
            </a:r>
            <a:r>
              <a:rPr sz="1600" spc="-50" dirty="0">
                <a:latin typeface="Wingdings"/>
                <a:cs typeface="Wingdings"/>
              </a:rPr>
              <a:t>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Calibri"/>
                <a:cs typeface="Calibri"/>
              </a:rPr>
              <a:t>Model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Experimentation</a:t>
            </a:r>
            <a:r>
              <a:rPr sz="1600" dirty="0">
                <a:latin typeface="Calibri"/>
                <a:cs typeface="Calibri"/>
              </a:rPr>
              <a:t>: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Test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different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910</Words>
  <Application>Microsoft Office PowerPoint</Application>
  <PresentationFormat>Custom</PresentationFormat>
  <Paragraphs>82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Calibri</vt:lpstr>
      <vt:lpstr>Consolas</vt:lpstr>
      <vt:lpstr>Segoe UI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Ritu Bhalerao</dc:creator>
  <cp:lastModifiedBy>Dell</cp:lastModifiedBy>
  <cp:revision>1</cp:revision>
  <dcterms:created xsi:type="dcterms:W3CDTF">2025-02-08T12:22:49Z</dcterms:created>
  <dcterms:modified xsi:type="dcterms:W3CDTF">2025-02-08T12:24:37Z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2025-02-04T00:00:00Z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2025-02-08T00:00:00Z</vt:filetime>
  </property>
  <property fmtid="{D5CDD505-2E9C-101B-9397-08002B2CF9AE}" pid="5" name="Producer">
    <vt:lpwstr>Microsoft® Word 2016</vt:lpwstr>
  </property>
</Properties>
</file>